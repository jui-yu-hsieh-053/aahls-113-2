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234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9551E0-6461-5E8C-0D28-B7AC1DBB0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0DB2D5-84D4-3D07-01D7-31BB7E71B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4FEDD9-ED81-0689-1D0F-2BD1B4EC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66C447-4FDA-29D1-1CA6-933A5AD0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FEC621-5252-63CA-629D-03694D99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62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1E903-6093-E310-AC84-B00292D0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B9ECEF-F557-43D3-8A88-6F568879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F709C8-6B28-EB47-F3E2-5A9E49B0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1C06AA-548B-DD64-EF14-946C477B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8BA503-587A-6BB1-E234-AAD10364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10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848DA-1207-4CD8-4790-151DEEC8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16F818-AA90-E9C2-A015-C4885A904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E8775F-E69C-0602-8B42-3C2F3504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4BE26D-23D3-E850-845F-43B986B0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EF596E-8D83-CD0C-2A61-DF6F99ED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41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3E3B1B-073E-E72F-667B-C3DC46AA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E91FFC-A6F3-8DD8-152C-C931D8E06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F71F50-9D62-9906-68CF-B61D02F21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6D415B-B2A8-1525-44A1-37DA677E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19206F-FF87-8A45-92F9-09DB187C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FD6F9D-3971-BE43-8303-A2E589DE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45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5E0C9-BF62-5F03-621E-D0223A55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D474A3-E814-646F-6E68-8E27F0095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DCBCA8-96CB-26AE-AF63-768F62357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435551B-6993-012F-D696-5081E1B2C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A93F08-65B7-0757-22DC-E79A51A55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BEFC77-6A53-F836-D3FD-D6BF393F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F017B7-CD80-588E-BF61-5C9136A8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4BA2CA2-2F91-217D-0A56-976F9216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8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85BDE-17EF-2120-7D0B-13C17875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88603ED-28B6-896F-64B0-F25F0CCB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F59AA83-8E1E-6315-3183-13C9CC14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6EB057-393A-BCEA-7073-5627B86D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399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108D941-4634-37AB-0908-1CCFE37B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587862C-9B4C-DFCA-E573-5E1082D8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467EE7-B51D-1BE6-6463-A66EE4F1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329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C8BE0-0170-418E-807A-7383D754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EA230-1B27-5A43-D5C0-9EBEDBDCC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298BB3-9B81-B4C5-1690-3BE32B886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12DD3B-D562-66F6-319B-96DD3981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E65643-290D-FAC0-9FEC-E24E81AB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DCD1A0-93CC-0DA5-FB8A-B04CD9C9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11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2E19A-4BC7-F393-89FA-346F0F73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8D52B4D-806E-D98E-269C-D3764FFAD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2A26E4-EEB3-F0B4-4691-5B23BA3D7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4C97FC-74C8-FB0C-FEDF-7C6A8A78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118C00-A956-B32F-92E5-8276B74B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2931B0-6191-447F-084A-40756E04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85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18752-636D-29ED-7DD6-88B0BB4C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4BCE8A-3427-8F29-E8DD-273BC339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25E322-651E-1450-2827-84FEB8A2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C93A26-6717-AFFF-CD61-A8BC5A02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F7CB76-E0F1-8F01-F3DE-F32021C6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58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5B98104-1999-F058-BF52-69BBDD86C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61E3CE-1887-D587-9658-95373196E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6BAE0B-CF0A-3E29-A51F-67B7F169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F8C79D-4E59-095F-1249-CB6D4E3F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747CD-DC6B-A224-ADDC-FCCD5BA3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58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B8A38D-1621-BD20-D7C6-F14EF74E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F34DD3-8CD1-66D8-F6D6-04C6F301B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770C8D-5176-FE16-D4D5-E643161B9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31879-0F84-494D-AF58-9C508E2DE666}" type="datetimeFigureOut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D32F80-8BFB-AFFC-D987-779D7FA17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B16EBD-4219-DFAF-E6B4-4119135CF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AFB3B-4504-4577-A138-A519D3D23D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48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231691-7FBA-42F7-58B6-DFC314EEB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AAHLS </a:t>
            </a:r>
            <a:r>
              <a:rPr lang="en-US" altLang="zh-TW" dirty="0" err="1"/>
              <a:t>Lab_B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A7D4AA-6D3A-DC52-51BA-105354C0B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Systolic_array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3251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45EB8-AE65-FC18-6366-1086383C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Part 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8A9428-A52B-2F32-81ED-A72125CB3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1188"/>
            <a:ext cx="10515600" cy="11300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400" dirty="0" err="1">
                <a:latin typeface="+mj-lt"/>
              </a:rPr>
              <a:t>Boardcast</a:t>
            </a:r>
            <a:endParaRPr lang="zh-TW" alt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030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B2708-3260-7F72-6DFC-4AEEC498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mmult.cpp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AF84209B-9F5F-6F03-BB01-493ECDDB1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745" y="365125"/>
            <a:ext cx="5024582" cy="6184692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862444B-E2EE-F047-73BE-983B58F9A3A1}"/>
              </a:ext>
            </a:extLst>
          </p:cNvPr>
          <p:cNvSpPr txBox="1"/>
          <p:nvPr/>
        </p:nvSpPr>
        <p:spPr>
          <a:xfrm>
            <a:off x="838200" y="1646382"/>
            <a:ext cx="525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把 </a:t>
            </a:r>
            <a:r>
              <a:rPr lang="en-US" altLang="zh-TW" dirty="0"/>
              <a:t>Host </a:t>
            </a:r>
            <a:r>
              <a:rPr lang="zh-TW" altLang="en-US" dirty="0"/>
              <a:t>傳來的 </a:t>
            </a:r>
            <a:r>
              <a:rPr lang="en-US" altLang="zh-TW" dirty="0"/>
              <a:t>A </a:t>
            </a:r>
            <a:r>
              <a:rPr lang="zh-TW" altLang="en-US" dirty="0"/>
              <a:t>和 </a:t>
            </a:r>
            <a:r>
              <a:rPr lang="en-US" altLang="zh-TW" dirty="0"/>
              <a:t>B </a:t>
            </a:r>
            <a:r>
              <a:rPr lang="zh-TW" altLang="en-US" dirty="0"/>
              <a:t>矩陣從 </a:t>
            </a:r>
            <a:r>
              <a:rPr lang="en-US" altLang="zh-TW" dirty="0"/>
              <a:t>global memory </a:t>
            </a:r>
            <a:r>
              <a:rPr lang="zh-TW" altLang="en-US" dirty="0"/>
              <a:t>載入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存進 </a:t>
            </a:r>
            <a:r>
              <a:rPr lang="en-US" altLang="zh-TW" dirty="0"/>
              <a:t>local 2D buffer(</a:t>
            </a:r>
            <a:r>
              <a:rPr lang="zh-TW" altLang="en-US" dirty="0"/>
              <a:t> </a:t>
            </a:r>
            <a:r>
              <a:rPr lang="en-US" altLang="zh-TW" dirty="0" err="1"/>
              <a:t>localA</a:t>
            </a:r>
            <a:r>
              <a:rPr lang="en-US" altLang="zh-TW" dirty="0"/>
              <a:t> &amp; </a:t>
            </a:r>
            <a:r>
              <a:rPr lang="en-US" altLang="zh-TW" dirty="0" err="1"/>
              <a:t>localB</a:t>
            </a:r>
            <a:r>
              <a:rPr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#pragma HLS LOOP_TRIPCOUNT</a:t>
            </a:r>
            <a:r>
              <a:rPr lang="zh-TW" altLang="en-US" dirty="0"/>
              <a:t>告知工具這個 </a:t>
            </a:r>
            <a:r>
              <a:rPr lang="en-US" altLang="zh-TW" dirty="0"/>
              <a:t>loop </a:t>
            </a:r>
            <a:r>
              <a:rPr lang="zh-TW" altLang="en-US" dirty="0"/>
              <a:t>大概會跑幾次（可優化資源估算與 </a:t>
            </a:r>
            <a:r>
              <a:rPr lang="en-US" altLang="zh-TW" dirty="0"/>
              <a:t>simulation </a:t>
            </a:r>
            <a:r>
              <a:rPr lang="zh-TW" altLang="en-US" dirty="0"/>
              <a:t>建模）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接下來的 </a:t>
            </a:r>
            <a:r>
              <a:rPr lang="en-US" altLang="zh-TW" dirty="0"/>
              <a:t>matrix multiply </a:t>
            </a:r>
            <a:r>
              <a:rPr lang="zh-TW" altLang="en-US" dirty="0"/>
              <a:t>可以從低延遲的 </a:t>
            </a:r>
            <a:r>
              <a:rPr lang="en-US" altLang="zh-TW" dirty="0"/>
              <a:t>on-chip BRAM </a:t>
            </a:r>
            <a:r>
              <a:rPr lang="zh-TW" altLang="en-US" dirty="0"/>
              <a:t>讀資料</a:t>
            </a:r>
          </a:p>
        </p:txBody>
      </p:sp>
    </p:spTree>
    <p:extLst>
      <p:ext uri="{BB962C8B-B14F-4D97-AF65-F5344CB8AC3E}">
        <p14:creationId xmlns:p14="http://schemas.microsoft.com/office/powerpoint/2010/main" val="319387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63C984-6879-863D-2B76-06770774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mmult.cpp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32678C1-9312-A186-20E2-80F6DD62B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86" y="1390364"/>
            <a:ext cx="5459713" cy="4598948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629F293-5540-DB59-6AA9-70EEF81AA0AA}"/>
              </a:ext>
            </a:extLst>
          </p:cNvPr>
          <p:cNvSpPr txBox="1"/>
          <p:nvPr/>
        </p:nvSpPr>
        <p:spPr>
          <a:xfrm>
            <a:off x="838200" y="1367564"/>
            <a:ext cx="55810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外層 </a:t>
            </a:r>
            <a:r>
              <a:rPr lang="en-US" altLang="zh-TW" dirty="0"/>
              <a:t>loop </a:t>
            </a:r>
            <a:r>
              <a:rPr lang="zh-TW" altLang="en-US" dirty="0"/>
              <a:t>對應矩陣乘法裡的 </a:t>
            </a:r>
            <a:r>
              <a:rPr lang="pl-PL" altLang="zh-TW" dirty="0"/>
              <a:t>C[i][j] += A[i][k] * B[k][j]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這兩層 </a:t>
            </a:r>
            <a:r>
              <a:rPr lang="en-US" altLang="zh-TW" dirty="0"/>
              <a:t>loop </a:t>
            </a:r>
            <a:r>
              <a:rPr lang="zh-TW" altLang="en-US" dirty="0"/>
              <a:t>完全 </a:t>
            </a:r>
            <a:r>
              <a:rPr lang="en-US" altLang="zh-TW" dirty="0"/>
              <a:t>unroll</a:t>
            </a:r>
            <a:r>
              <a:rPr lang="zh-TW" altLang="en-US" dirty="0"/>
              <a:t>，代表 工具會建立 </a:t>
            </a:r>
            <a:r>
              <a:rPr lang="en-US" altLang="zh-TW" dirty="0"/>
              <a:t>MAX_SIZE × MAX_SIZE </a:t>
            </a:r>
            <a:r>
              <a:rPr lang="zh-TW" altLang="en-US" dirty="0"/>
              <a:t>個並行計算單元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Last :</a:t>
            </a:r>
            <a:r>
              <a:rPr lang="zh-TW" altLang="en-US" dirty="0"/>
              <a:t>累加的舊值</a:t>
            </a:r>
            <a:r>
              <a:rPr lang="en-US" altLang="zh-TW" dirty="0"/>
              <a:t>(</a:t>
            </a:r>
            <a:r>
              <a:rPr lang="zh-TW" altLang="en-US" dirty="0"/>
              <a:t>如果是第一次，就設為 </a:t>
            </a:r>
            <a:r>
              <a:rPr lang="en-US" altLang="zh-TW" dirty="0"/>
              <a:t>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a_val</a:t>
            </a:r>
            <a:r>
              <a:rPr lang="en-US" altLang="zh-TW" dirty="0"/>
              <a:t> :</a:t>
            </a:r>
            <a:r>
              <a:rPr lang="zh-TW" altLang="en-US" dirty="0"/>
              <a:t>對應的 </a:t>
            </a:r>
            <a:r>
              <a:rPr lang="en-US" altLang="zh-TW" dirty="0"/>
              <a:t>A </a:t>
            </a:r>
            <a:r>
              <a:rPr lang="zh-TW" altLang="en-US" dirty="0"/>
              <a:t>元素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b_val</a:t>
            </a:r>
            <a:r>
              <a:rPr lang="en-US" altLang="zh-TW" dirty="0"/>
              <a:t> :</a:t>
            </a:r>
            <a:r>
              <a:rPr lang="zh-TW" altLang="en-US" dirty="0"/>
              <a:t>對應的 </a:t>
            </a:r>
            <a:r>
              <a:rPr lang="en-US" altLang="zh-TW" dirty="0"/>
              <a:t>B </a:t>
            </a:r>
            <a:r>
              <a:rPr lang="zh-TW" altLang="en-US" dirty="0"/>
              <a:t>元素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Result :</a:t>
            </a:r>
            <a:r>
              <a:rPr lang="zh-TW" altLang="en-US" dirty="0"/>
              <a:t>本次乘加結果，更新 </a:t>
            </a:r>
            <a:r>
              <a:rPr lang="en-US" altLang="zh-TW" dirty="0" err="1"/>
              <a:t>localC</a:t>
            </a:r>
            <a:r>
              <a:rPr lang="zh-TW" altLang="en-US" dirty="0"/>
              <a:t>（即 </a:t>
            </a:r>
            <a:r>
              <a:rPr lang="en-US" altLang="zh-TW" dirty="0"/>
              <a:t>C[</a:t>
            </a:r>
            <a:r>
              <a:rPr lang="en-US" altLang="zh-TW" dirty="0" err="1"/>
              <a:t>i</a:t>
            </a:r>
            <a:r>
              <a:rPr lang="en-US" altLang="zh-TW" dirty="0"/>
              <a:t>][j]</a:t>
            </a:r>
            <a:r>
              <a:rPr lang="zh-TW" altLang="en-US" dirty="0"/>
              <a:t>）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把 </a:t>
            </a:r>
            <a:r>
              <a:rPr lang="en-US" altLang="zh-TW" dirty="0"/>
              <a:t>on-chip </a:t>
            </a:r>
            <a:r>
              <a:rPr lang="en-US" altLang="zh-TW" dirty="0" err="1"/>
              <a:t>localC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][j] </a:t>
            </a:r>
            <a:r>
              <a:rPr lang="zh-TW" altLang="en-US" dirty="0"/>
              <a:t>寫回</a:t>
            </a:r>
            <a:r>
              <a:rPr lang="en-US" altLang="zh-TW" dirty="0"/>
              <a:t>global memory c[loc]</a:t>
            </a:r>
          </a:p>
        </p:txBody>
      </p:sp>
    </p:spTree>
    <p:extLst>
      <p:ext uri="{BB962C8B-B14F-4D97-AF65-F5344CB8AC3E}">
        <p14:creationId xmlns:p14="http://schemas.microsoft.com/office/powerpoint/2010/main" val="29663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47E79F-58D6-412D-260B-2FE518EE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Systolic Array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8C14A54-FDE7-D176-F8A8-E2EC1CF23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727" y="396858"/>
            <a:ext cx="6003637" cy="5924746"/>
          </a:xfrm>
        </p:spPr>
      </p:pic>
    </p:spTree>
    <p:extLst>
      <p:ext uri="{BB962C8B-B14F-4D97-AF65-F5344CB8AC3E}">
        <p14:creationId xmlns:p14="http://schemas.microsoft.com/office/powerpoint/2010/main" val="419800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92D746-CCDD-7384-89EF-B691A364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C2B790-17A4-9BBB-B98B-AB496B2D3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52313"/>
            <a:ext cx="4134427" cy="3753374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783F934-48B2-A4EC-8F2F-7CBEE3D3BBCA}"/>
              </a:ext>
            </a:extLst>
          </p:cNvPr>
          <p:cNvSpPr txBox="1"/>
          <p:nvPr/>
        </p:nvSpPr>
        <p:spPr>
          <a:xfrm>
            <a:off x="976745" y="5305687"/>
            <a:ext cx="337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建置</a:t>
            </a:r>
            <a:r>
              <a:rPr lang="en-US" altLang="zh-TW" dirty="0"/>
              <a:t> Hardware </a:t>
            </a:r>
            <a:r>
              <a:rPr lang="zh-TW" altLang="en-US" dirty="0"/>
              <a:t>以得到</a:t>
            </a:r>
            <a:r>
              <a:rPr lang="en-US" altLang="zh-TW" dirty="0"/>
              <a:t> </a:t>
            </a:r>
            <a:r>
              <a:rPr lang="en-US" altLang="zh-TW" dirty="0" err="1"/>
              <a:t>xclbin</a:t>
            </a:r>
            <a:r>
              <a:rPr lang="en-US" altLang="zh-TW" dirty="0"/>
              <a:t> file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02AA60-2EB7-B754-4125-BF0BDCF7C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263" y="365125"/>
            <a:ext cx="6585393" cy="94867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EEA4964-ACEC-8270-D1A3-A8B63647706D}"/>
              </a:ext>
            </a:extLst>
          </p:cNvPr>
          <p:cNvSpPr txBox="1"/>
          <p:nvPr/>
        </p:nvSpPr>
        <p:spPr>
          <a:xfrm>
            <a:off x="5261263" y="1367647"/>
            <a:ext cx="6585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利用</a:t>
            </a:r>
            <a:r>
              <a:rPr lang="en-US" altLang="zh-TW" dirty="0"/>
              <a:t>Terminal</a:t>
            </a:r>
            <a:r>
              <a:rPr lang="zh-TW" altLang="en-US" dirty="0"/>
              <a:t>在</a:t>
            </a:r>
            <a:r>
              <a:rPr lang="en-US" altLang="zh-TW" dirty="0"/>
              <a:t>U50</a:t>
            </a:r>
            <a:r>
              <a:rPr lang="zh-TW" altLang="en-US" dirty="0"/>
              <a:t>上執行建置所產生的檔案，並得到</a:t>
            </a:r>
            <a:r>
              <a:rPr lang="en-US" altLang="zh-TW" dirty="0" err="1"/>
              <a:t>xrt.run_summary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CEF9590-286F-40A9-236E-2FED00F63E53}"/>
              </a:ext>
            </a:extLst>
          </p:cNvPr>
          <p:cNvSpPr txBox="1"/>
          <p:nvPr/>
        </p:nvSpPr>
        <p:spPr>
          <a:xfrm>
            <a:off x="5901391" y="5748080"/>
            <a:ext cx="530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vitis_analyzer</a:t>
            </a:r>
            <a:r>
              <a:rPr lang="zh-TW" altLang="en-US" dirty="0"/>
              <a:t>打開</a:t>
            </a:r>
            <a:r>
              <a:rPr lang="en-US" altLang="zh-TW" dirty="0" err="1"/>
              <a:t>xrt.run_summary</a:t>
            </a:r>
            <a:r>
              <a:rPr lang="en-US" altLang="zh-TW" dirty="0"/>
              <a:t> </a:t>
            </a:r>
            <a:r>
              <a:rPr lang="zh-TW" altLang="en-US" dirty="0"/>
              <a:t>查看</a:t>
            </a:r>
            <a:r>
              <a:rPr lang="en-US" altLang="zh-TW" dirty="0"/>
              <a:t>timeline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934163B-10B0-8A03-A74C-8D269FC0A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169" y="2207491"/>
            <a:ext cx="7110804" cy="331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8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6FB1-8EE9-542D-60B4-DCE1EE96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634BD9-40C9-F06E-38E2-2BABE87F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Part 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267871-42E7-90AD-8349-1F7DC8F6D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1188"/>
            <a:ext cx="10515600" cy="11300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400" dirty="0">
                <a:latin typeface="+mj-lt"/>
              </a:rPr>
              <a:t>Pipeline</a:t>
            </a:r>
            <a:endParaRPr lang="zh-TW" alt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023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52CC8A-1B35-366C-EED4-B8625C27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1FEF2E-A705-0260-F060-6E7B74B58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5713" y="1079748"/>
            <a:ext cx="4868087" cy="469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0E1F243B-9A69-2581-B23B-0F82BD259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69" y="1560708"/>
            <a:ext cx="4633119" cy="457223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65D6FA5-22F4-5AD7-2BE5-5191E8A6CFF0}"/>
              </a:ext>
            </a:extLst>
          </p:cNvPr>
          <p:cNvSpPr txBox="1"/>
          <p:nvPr/>
        </p:nvSpPr>
        <p:spPr>
          <a:xfrm>
            <a:off x="2708826" y="6151479"/>
            <a:ext cx="112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/>
              <a:t>Boardcast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BBD02D9-3876-70DF-8465-34205A2F3506}"/>
              </a:ext>
            </a:extLst>
          </p:cNvPr>
          <p:cNvSpPr txBox="1"/>
          <p:nvPr/>
        </p:nvSpPr>
        <p:spPr>
          <a:xfrm>
            <a:off x="8356337" y="6142243"/>
            <a:ext cx="112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Pipeline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80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40851D-F424-1238-F568-BA5225DB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mmult.cpp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0E3CE6-1009-0E6F-F975-2B74EA28D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82" y="1406554"/>
            <a:ext cx="5257800" cy="474685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E31983D-6746-ED0C-BA29-90D4DBBFD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082" y="0"/>
            <a:ext cx="554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8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27F7F6-481A-294B-C311-072A32D2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Timeline Comparison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DF1A732-E3D7-C298-28DE-4F306B122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05145"/>
            <a:ext cx="5713153" cy="2377449"/>
          </a:xfr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4F3949C-197A-8F73-ED21-3506D249D768}"/>
              </a:ext>
            </a:extLst>
          </p:cNvPr>
          <p:cNvSpPr txBox="1"/>
          <p:nvPr/>
        </p:nvSpPr>
        <p:spPr>
          <a:xfrm>
            <a:off x="8389157" y="4184134"/>
            <a:ext cx="112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Pipeline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A825407-73A5-2535-87FB-30B31878B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5145"/>
            <a:ext cx="4848132" cy="237744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221EE65-5FF1-0945-EE5E-6531CDB3F8E2}"/>
              </a:ext>
            </a:extLst>
          </p:cNvPr>
          <p:cNvSpPr txBox="1"/>
          <p:nvPr/>
        </p:nvSpPr>
        <p:spPr>
          <a:xfrm>
            <a:off x="2698847" y="4368800"/>
            <a:ext cx="112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/>
              <a:t>Boardcast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585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246</Words>
  <Application>Microsoft Office PowerPoint</Application>
  <PresentationFormat>寬螢幕</PresentationFormat>
  <Paragraphs>37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佈景主題</vt:lpstr>
      <vt:lpstr>AAHLS Lab_B</vt:lpstr>
      <vt:lpstr>Part I</vt:lpstr>
      <vt:lpstr>mmult.cpp</vt:lpstr>
      <vt:lpstr>mmult.cpp</vt:lpstr>
      <vt:lpstr>Systolic Array</vt:lpstr>
      <vt:lpstr>Analysis</vt:lpstr>
      <vt:lpstr>Part II</vt:lpstr>
      <vt:lpstr>Comparison</vt:lpstr>
      <vt:lpstr>mmult.cpp</vt:lpstr>
      <vt:lpstr>Timeline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睿宇 謝</dc:creator>
  <cp:lastModifiedBy>睿宇 謝</cp:lastModifiedBy>
  <cp:revision>3</cp:revision>
  <dcterms:created xsi:type="dcterms:W3CDTF">2025-05-11T16:12:59Z</dcterms:created>
  <dcterms:modified xsi:type="dcterms:W3CDTF">2025-05-14T05:30:37Z</dcterms:modified>
</cp:coreProperties>
</file>